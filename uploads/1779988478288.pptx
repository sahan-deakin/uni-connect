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sldIdLst>
    <p:sldId id="256" r:id="rId2"/>
    <p:sldId id="263" r:id="rId3"/>
    <p:sldId id="264" r:id="rId4"/>
    <p:sldId id="265" r:id="rId5"/>
    <p:sldId id="266" r:id="rId6"/>
    <p:sldId id="267" r:id="rId7"/>
    <p:sldId id="269"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A7A0"/>
    <a:srgbClr val="BFD5D5"/>
    <a:srgbClr val="BBD6D7"/>
    <a:srgbClr val="9681FF"/>
    <a:srgbClr val="B8B5FF"/>
    <a:srgbClr val="D883FF"/>
    <a:srgbClr val="3494BB"/>
    <a:srgbClr val="C84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30"/>
    <p:restoredTop sz="95760"/>
  </p:normalViewPr>
  <p:slideViewPr>
    <p:cSldViewPr snapToGrid="0">
      <p:cViewPr varScale="1">
        <p:scale>
          <a:sx n="96" d="100"/>
          <a:sy n="96" d="100"/>
        </p:scale>
        <p:origin x="176"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857186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1963918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4104467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55961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3444010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2447613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3818712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1137760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0D4E46AA-1EC0-4433-9956-E798E94A6FB7}" type="datetimeFigureOut">
              <a:rPr lang="en-US" smtClean="0"/>
              <a:t>4/19/26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38C08-47C7-4847-B0BE-B9D8DEEB3D1B}" type="slidenum">
              <a:rPr lang="en-US" smtClean="0"/>
              <a:t>‹#›</a:t>
            </a:fld>
            <a:endParaRPr lang="en-US" dirty="0"/>
          </a:p>
        </p:txBody>
      </p:sp>
    </p:spTree>
    <p:extLst>
      <p:ext uri="{BB962C8B-B14F-4D97-AF65-F5344CB8AC3E}">
        <p14:creationId xmlns:p14="http://schemas.microsoft.com/office/powerpoint/2010/main" val="282222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718461"/>
            <a:ext cx="10363200" cy="106724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150836"/>
            <a:ext cx="10363200" cy="379099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0D4E46AA-1EC0-4433-9956-E798E94A6FB7}" type="datetimeFigureOut">
              <a:rPr lang="en-US" smtClean="0"/>
              <a:pPr/>
              <a:t>4/19/26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38C08-47C7-4847-B0BE-B9D8DEEB3D1B}" type="slidenum">
              <a:rPr lang="en-US" smtClean="0"/>
              <a:pPr/>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488199"/>
            <a:ext cx="978862" cy="0"/>
          </a:xfrm>
          <a:prstGeom prst="line">
            <a:avLst/>
          </a:prstGeom>
          <a:ln w="76200">
            <a:solidFill>
              <a:srgbClr val="F8A7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63646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274320" indent="0" algn="l" defTabSz="914400" rtl="0" eaLnBrk="1" latinLnBrk="0" hangingPunct="1">
        <a:lnSpc>
          <a:spcPct val="120000"/>
        </a:lnSpc>
        <a:spcBef>
          <a:spcPts val="500"/>
        </a:spcBef>
        <a:buSzPct val="87000"/>
        <a:buFontTx/>
        <a:buNone/>
        <a:defRPr sz="1800"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594360" indent="0" algn="l" defTabSz="914400" rtl="0" eaLnBrk="1" latinLnBrk="0" hangingPunct="1">
        <a:lnSpc>
          <a:spcPct val="120000"/>
        </a:lnSpc>
        <a:spcBef>
          <a:spcPts val="500"/>
        </a:spcBef>
        <a:buSzPct val="87000"/>
        <a:buFontTx/>
        <a:buNone/>
        <a:defRPr sz="1400"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nsplash.com/@jdiegoph?utm_content=creditCopyText&amp;utm_medium=referral&amp;utm_source=unsplash"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unsplash.com/photos/person-holding-light-bulb-fIq0tET6llw?utm_content=creditCopyText&amp;utm_medium=referral&amp;utm_source=unsplash"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deakin.edu.au/students/study-support/study-resources/referencing" TargetMode="External"/><Relationship Id="rId1" Type="http://schemas.openxmlformats.org/officeDocument/2006/relationships/slideLayout" Target="../slideLayouts/slideLayout2.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1000" b="-61000"/>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3225" y="1066800"/>
            <a:ext cx="4708175"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70A18F-313F-7277-2363-FEB32E7E9FDD}"/>
              </a:ext>
            </a:extLst>
          </p:cNvPr>
          <p:cNvSpPr>
            <a:spLocks noGrp="1"/>
          </p:cNvSpPr>
          <p:nvPr>
            <p:ph type="ctrTitle"/>
          </p:nvPr>
        </p:nvSpPr>
        <p:spPr>
          <a:xfrm>
            <a:off x="889370" y="1620036"/>
            <a:ext cx="3551402" cy="2738530"/>
          </a:xfrm>
        </p:spPr>
        <p:txBody>
          <a:bodyPr anchor="t">
            <a:normAutofit/>
          </a:bodyPr>
          <a:lstStyle/>
          <a:p>
            <a:r>
              <a:rPr lang="en-US"/>
              <a:t>SIT726 </a:t>
            </a:r>
            <a:br>
              <a:rPr lang="en-US"/>
            </a:br>
            <a:r>
              <a:rPr lang="en-US"/>
              <a:t>Insert </a:t>
            </a:r>
            <a:r>
              <a:rPr lang="en-US" dirty="0"/>
              <a:t>Project Solution Title</a:t>
            </a:r>
          </a:p>
        </p:txBody>
      </p:sp>
      <p:sp>
        <p:nvSpPr>
          <p:cNvPr id="3" name="Subtitle 2">
            <a:extLst>
              <a:ext uri="{FF2B5EF4-FFF2-40B4-BE49-F238E27FC236}">
                <a16:creationId xmlns:a16="http://schemas.microsoft.com/office/drawing/2014/main" id="{EE58D7F4-0762-A7F3-B7E2-44C25B9B22A6}"/>
              </a:ext>
            </a:extLst>
          </p:cNvPr>
          <p:cNvSpPr>
            <a:spLocks noGrp="1"/>
          </p:cNvSpPr>
          <p:nvPr>
            <p:ph type="subTitle" idx="1"/>
          </p:nvPr>
        </p:nvSpPr>
        <p:spPr>
          <a:xfrm>
            <a:off x="836387" y="3429000"/>
            <a:ext cx="3579790" cy="875824"/>
          </a:xfrm>
        </p:spPr>
        <p:txBody>
          <a:bodyPr>
            <a:normAutofit/>
          </a:bodyPr>
          <a:lstStyle/>
          <a:p>
            <a:r>
              <a:rPr lang="en-US" dirty="0"/>
              <a:t>Insert Name and Student ID</a:t>
            </a:r>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8844675" y="3418676"/>
            <a:ext cx="0" cy="472440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CCE6F30-28D2-CE74-D205-4F2CDEB7E39E}"/>
              </a:ext>
            </a:extLst>
          </p:cNvPr>
          <p:cNvSpPr txBox="1"/>
          <p:nvPr/>
        </p:nvSpPr>
        <p:spPr>
          <a:xfrm>
            <a:off x="8920875" y="6355331"/>
            <a:ext cx="3124200" cy="338554"/>
          </a:xfrm>
          <a:prstGeom prst="rect">
            <a:avLst/>
          </a:prstGeom>
          <a:noFill/>
        </p:spPr>
        <p:txBody>
          <a:bodyPr wrap="square">
            <a:spAutoFit/>
          </a:bodyPr>
          <a:lstStyle/>
          <a:p>
            <a:r>
              <a:rPr lang="en-AU" sz="1600" b="0" i="0" u="none" strike="noStrike" dirty="0">
                <a:solidFill>
                  <a:schemeClr val="bg1"/>
                </a:solidFill>
                <a:effectLst/>
                <a:latin typeface="-webkit-standard"/>
              </a:rPr>
              <a:t>Photo by </a:t>
            </a:r>
            <a:r>
              <a:rPr lang="en-AU" sz="1600" b="0" i="0" dirty="0">
                <a:solidFill>
                  <a:schemeClr val="bg1"/>
                </a:solidFill>
                <a:effectLst/>
                <a:hlinkClick r:id="rId3">
                  <a:extLst>
                    <a:ext uri="{A12FA001-AC4F-418D-AE19-62706E023703}">
                      <ahyp:hlinkClr xmlns:ahyp="http://schemas.microsoft.com/office/drawing/2018/hyperlinkcolor" val="tx"/>
                    </a:ext>
                  </a:extLst>
                </a:hlinkClick>
              </a:rPr>
              <a:t>Diego PH</a:t>
            </a:r>
            <a:r>
              <a:rPr lang="en-AU" sz="1600" b="0" i="0" u="none" strike="noStrike" dirty="0">
                <a:solidFill>
                  <a:schemeClr val="bg1"/>
                </a:solidFill>
                <a:effectLst/>
                <a:latin typeface="-webkit-standard"/>
              </a:rPr>
              <a:t> on </a:t>
            </a:r>
            <a:r>
              <a:rPr lang="en-AU" sz="1600" b="0" i="0" dirty="0">
                <a:solidFill>
                  <a:schemeClr val="bg1"/>
                </a:solidFill>
                <a:effectLst/>
                <a:hlinkClick r:id="rId4">
                  <a:extLst>
                    <a:ext uri="{A12FA001-AC4F-418D-AE19-62706E023703}">
                      <ahyp:hlinkClr xmlns:ahyp="http://schemas.microsoft.com/office/drawing/2018/hyperlinkcolor" val="tx"/>
                    </a:ext>
                  </a:extLst>
                </a:hlinkClick>
              </a:rPr>
              <a:t>Unsplash</a:t>
            </a:r>
            <a:endParaRPr lang="en-US" sz="1600" dirty="0">
              <a:solidFill>
                <a:schemeClr val="bg1"/>
              </a:solidFill>
            </a:endParaRPr>
          </a:p>
        </p:txBody>
      </p:sp>
    </p:spTree>
    <p:extLst>
      <p:ext uri="{BB962C8B-B14F-4D97-AF65-F5344CB8AC3E}">
        <p14:creationId xmlns:p14="http://schemas.microsoft.com/office/powerpoint/2010/main" val="1026364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C0AA-36AB-BD1C-AD7F-43052890127F}"/>
              </a:ext>
            </a:extLst>
          </p:cNvPr>
          <p:cNvSpPr>
            <a:spLocks noGrp="1"/>
          </p:cNvSpPr>
          <p:nvPr>
            <p:ph type="title"/>
          </p:nvPr>
        </p:nvSpPr>
        <p:spPr>
          <a:xfrm>
            <a:off x="914399" y="587829"/>
            <a:ext cx="10363200" cy="985563"/>
          </a:xfrm>
        </p:spPr>
        <p:txBody>
          <a:bodyPr>
            <a:normAutofit/>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1) The Vision / Value proposition</a:t>
            </a:r>
            <a:endParaRPr lang="en-US" dirty="0"/>
          </a:p>
        </p:txBody>
      </p:sp>
      <p:sp>
        <p:nvSpPr>
          <p:cNvPr id="3" name="Content Placeholder 2">
            <a:extLst>
              <a:ext uri="{FF2B5EF4-FFF2-40B4-BE49-F238E27FC236}">
                <a16:creationId xmlns:a16="http://schemas.microsoft.com/office/drawing/2014/main" id="{9AAB09B7-6303-B1E5-D3DA-D3675821B44D}"/>
              </a:ext>
            </a:extLst>
          </p:cNvPr>
          <p:cNvSpPr>
            <a:spLocks noGrp="1"/>
          </p:cNvSpPr>
          <p:nvPr>
            <p:ph idx="1"/>
          </p:nvPr>
        </p:nvSpPr>
        <p:spPr>
          <a:xfrm>
            <a:off x="914399" y="2122714"/>
            <a:ext cx="6368144" cy="3819115"/>
          </a:xfrm>
        </p:spPr>
        <p:txBody>
          <a:bodyPr>
            <a:normAutofit/>
          </a:bodyPr>
          <a:lstStyle/>
          <a:p>
            <a:r>
              <a:rPr lang="en-AU" dirty="0">
                <a:effectLst/>
                <a:latin typeface="Calibri" panose="020F0502020204030204" pitchFamily="34" charset="0"/>
                <a:ea typeface="Times New Roman" panose="02020603050405020304" pitchFamily="18" charset="0"/>
                <a:cs typeface="Calibri" panose="020F0502020204030204" pitchFamily="34" charset="0"/>
              </a:rPr>
              <a:t>This section should include a short (one sentence) statement about the unique value that you solution can provide to the target market, customer or audience.</a:t>
            </a:r>
            <a:endParaRPr lang="en-AU"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pic>
        <p:nvPicPr>
          <p:cNvPr id="5" name="Graphic 4" descr="Lightbulb and pencil with solid fill">
            <a:extLst>
              <a:ext uri="{FF2B5EF4-FFF2-40B4-BE49-F238E27FC236}">
                <a16:creationId xmlns:a16="http://schemas.microsoft.com/office/drawing/2014/main" id="{C3B301C9-54EE-C3EF-F835-11E71C8352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48292" y="1389007"/>
            <a:ext cx="4079986" cy="4079986"/>
          </a:xfrm>
          <a:prstGeom prst="rect">
            <a:avLst/>
          </a:prstGeom>
        </p:spPr>
      </p:pic>
    </p:spTree>
    <p:extLst>
      <p:ext uri="{BB962C8B-B14F-4D97-AF65-F5344CB8AC3E}">
        <p14:creationId xmlns:p14="http://schemas.microsoft.com/office/powerpoint/2010/main" val="1587023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4742-1BE2-9BE7-B834-987B87FA895C}"/>
              </a:ext>
            </a:extLst>
          </p:cNvPr>
          <p:cNvSpPr>
            <a:spLocks noGrp="1"/>
          </p:cNvSpPr>
          <p:nvPr>
            <p:ph type="title"/>
          </p:nvPr>
        </p:nvSpPr>
        <p:spPr>
          <a:xfrm>
            <a:off x="914400" y="620490"/>
            <a:ext cx="10363200" cy="1067248"/>
          </a:xfrm>
        </p:spPr>
        <p:txBody>
          <a:bodyPr>
            <a:normAutofit/>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2) The Problem</a:t>
            </a:r>
            <a:endParaRPr lang="en-US" dirty="0"/>
          </a:p>
        </p:txBody>
      </p:sp>
      <p:sp>
        <p:nvSpPr>
          <p:cNvPr id="3" name="Content Placeholder 2">
            <a:extLst>
              <a:ext uri="{FF2B5EF4-FFF2-40B4-BE49-F238E27FC236}">
                <a16:creationId xmlns:a16="http://schemas.microsoft.com/office/drawing/2014/main" id="{0531EEC0-4E63-FC35-D16E-33AC9E06E4C1}"/>
              </a:ext>
            </a:extLst>
          </p:cNvPr>
          <p:cNvSpPr>
            <a:spLocks noGrp="1"/>
          </p:cNvSpPr>
          <p:nvPr>
            <p:ph idx="1"/>
          </p:nvPr>
        </p:nvSpPr>
        <p:spPr>
          <a:xfrm>
            <a:off x="914399" y="2150836"/>
            <a:ext cx="5715001" cy="3790994"/>
          </a:xfrm>
        </p:spPr>
        <p:txBody>
          <a:bodyPr>
            <a:normAutofit/>
          </a:bodyPr>
          <a:lstStyle/>
          <a:p>
            <a:pPr>
              <a:spcAft>
                <a:spcPts val="800"/>
              </a:spcAft>
              <a:buSzPts val="1000"/>
              <a:tabLst>
                <a:tab pos="457200" algn="l"/>
              </a:tabLst>
            </a:pPr>
            <a:r>
              <a:rPr lang="en-AU" dirty="0">
                <a:latin typeface="Calibri" panose="020F0502020204030204" pitchFamily="34" charset="0"/>
                <a:ea typeface="Times New Roman" panose="02020603050405020304" pitchFamily="18" charset="0"/>
                <a:cs typeface="Calibri" panose="020F0502020204030204" pitchFamily="34" charset="0"/>
              </a:rPr>
              <a:t>This section should include a clear outline of the problem that you are trying to solve and who is affected by this problem. </a:t>
            </a:r>
          </a:p>
          <a:p>
            <a:pPr>
              <a:spcAft>
                <a:spcPts val="800"/>
              </a:spcAft>
              <a:buSzPts val="1000"/>
              <a:tabLst>
                <a:tab pos="457200" algn="l"/>
              </a:tabLst>
            </a:pPr>
            <a:r>
              <a:rPr lang="en-AU" dirty="0">
                <a:latin typeface="Calibri" panose="020F0502020204030204" pitchFamily="34" charset="0"/>
                <a:ea typeface="Times New Roman" panose="02020603050405020304" pitchFamily="18" charset="0"/>
                <a:cs typeface="Calibri" panose="020F0502020204030204" pitchFamily="34" charset="0"/>
              </a:rPr>
              <a:t>You can also include what benefits solving the problems might bring. </a:t>
            </a:r>
          </a:p>
          <a:p>
            <a:pPr marL="0" indent="0">
              <a:buNone/>
            </a:pPr>
            <a:endParaRPr lang="en-US" dirty="0"/>
          </a:p>
          <a:p>
            <a:endParaRPr lang="en-US" dirty="0"/>
          </a:p>
        </p:txBody>
      </p:sp>
      <p:pic>
        <p:nvPicPr>
          <p:cNvPr id="4" name="Graphic 3" descr="Target Audience with solid fill">
            <a:extLst>
              <a:ext uri="{FF2B5EF4-FFF2-40B4-BE49-F238E27FC236}">
                <a16:creationId xmlns:a16="http://schemas.microsoft.com/office/drawing/2014/main" id="{0BBA4FBF-1B4E-D41F-E829-02F9A79F0E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6600" y="882497"/>
            <a:ext cx="4804683" cy="4804683"/>
          </a:xfrm>
          <a:prstGeom prst="rect">
            <a:avLst/>
          </a:prstGeom>
        </p:spPr>
      </p:pic>
    </p:spTree>
    <p:extLst>
      <p:ext uri="{BB962C8B-B14F-4D97-AF65-F5344CB8AC3E}">
        <p14:creationId xmlns:p14="http://schemas.microsoft.com/office/powerpoint/2010/main" val="229211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4570E-0AB9-2BDD-C286-C27E5AC996AC}"/>
              </a:ext>
            </a:extLst>
          </p:cNvPr>
          <p:cNvSpPr>
            <a:spLocks noGrp="1"/>
          </p:cNvSpPr>
          <p:nvPr>
            <p:ph type="title"/>
          </p:nvPr>
        </p:nvSpPr>
        <p:spPr/>
        <p:txBody>
          <a:bodyPr>
            <a:normAutofit fontScale="90000"/>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3) The Market</a:t>
            </a:r>
            <a:br>
              <a:rPr lang="en-AU" b="1" dirty="0">
                <a:effectLst/>
                <a:latin typeface="Calibri" panose="020F0502020204030204" pitchFamily="34" charset="0"/>
                <a:ea typeface="Times New Roman" panose="02020603050405020304" pitchFamily="18" charset="0"/>
                <a:cs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74B44B1F-4305-900E-A79F-E9C6C56442DC}"/>
              </a:ext>
            </a:extLst>
          </p:cNvPr>
          <p:cNvSpPr>
            <a:spLocks noGrp="1"/>
          </p:cNvSpPr>
          <p:nvPr>
            <p:ph idx="1"/>
          </p:nvPr>
        </p:nvSpPr>
        <p:spPr>
          <a:xfrm>
            <a:off x="914399" y="1785709"/>
            <a:ext cx="6629401" cy="4156121"/>
          </a:xfrm>
        </p:spPr>
        <p:txBody>
          <a:bodyPr>
            <a:normAutofit/>
          </a:bodyPr>
          <a:lstStyle/>
          <a:p>
            <a:pPr marL="342900" lvl="0" indent="-342900">
              <a:lnSpc>
                <a:spcPct val="110000"/>
              </a:lnSpc>
              <a:spcAft>
                <a:spcPts val="800"/>
              </a:spcAft>
              <a:buSzPts val="1000"/>
              <a:buFont typeface="Courier New" panose="02070309020205020404" pitchFamily="49" charset="0"/>
              <a:buChar char="o"/>
              <a:tabLst>
                <a:tab pos="457200" algn="l"/>
              </a:tabLst>
            </a:pPr>
            <a:r>
              <a:rPr lang="en-AU" sz="1800" dirty="0">
                <a:effectLst/>
                <a:latin typeface="Calibri" panose="020F0502020204030204" pitchFamily="34" charset="0"/>
                <a:ea typeface="Times New Roman" panose="02020603050405020304" pitchFamily="18" charset="0"/>
                <a:cs typeface="Calibri" panose="020F0502020204030204" pitchFamily="34" charset="0"/>
              </a:rPr>
              <a:t>This section should explain who you ideal or target customer is</a:t>
            </a:r>
            <a:r>
              <a:rPr lang="en-AU" sz="1800" dirty="0">
                <a:latin typeface="Calibri" panose="020F0502020204030204" pitchFamily="34" charset="0"/>
                <a:ea typeface="Times New Roman" panose="02020603050405020304" pitchFamily="18" charset="0"/>
                <a:cs typeface="Calibri" panose="020F0502020204030204" pitchFamily="34" charset="0"/>
              </a:rPr>
              <a:t>.</a:t>
            </a:r>
            <a:r>
              <a:rPr lang="en-AU" sz="1800" dirty="0">
                <a:effectLst/>
                <a:latin typeface="Calibri" panose="020F0502020204030204" pitchFamily="34" charset="0"/>
                <a:ea typeface="Times New Roman" panose="02020603050405020304" pitchFamily="18" charset="0"/>
                <a:cs typeface="Calibri" panose="020F0502020204030204" pitchFamily="34" charset="0"/>
              </a:rPr>
              <a:t> </a:t>
            </a:r>
          </a:p>
          <a:p>
            <a:pPr marL="342900" lvl="0" indent="-342900">
              <a:lnSpc>
                <a:spcPct val="110000"/>
              </a:lnSpc>
              <a:spcAft>
                <a:spcPts val="800"/>
              </a:spcAft>
              <a:buSzPts val="1000"/>
              <a:buFont typeface="Courier New" panose="02070309020205020404" pitchFamily="49" charset="0"/>
              <a:buChar char="o"/>
              <a:tabLst>
                <a:tab pos="457200" algn="l"/>
              </a:tabLst>
            </a:pPr>
            <a:r>
              <a:rPr lang="en-AU" sz="1800" dirty="0">
                <a:effectLst/>
                <a:latin typeface="Calibri" panose="020F0502020204030204" pitchFamily="34" charset="0"/>
                <a:ea typeface="Times New Roman" panose="02020603050405020304" pitchFamily="18" charset="0"/>
                <a:cs typeface="Calibri" panose="020F0502020204030204" pitchFamily="34" charset="0"/>
              </a:rPr>
              <a:t>It is important to note that the market might be broken into several segments to which your solution might appeal to. You should outline who the target market is and where there might be growth opportunities at both the local and global levels. </a:t>
            </a:r>
          </a:p>
          <a:p>
            <a:pPr marL="342900" lvl="0" indent="-342900">
              <a:lnSpc>
                <a:spcPct val="110000"/>
              </a:lnSpc>
              <a:spcAft>
                <a:spcPts val="800"/>
              </a:spcAft>
              <a:buSzPts val="1000"/>
              <a:buFont typeface="Courier New" panose="02070309020205020404" pitchFamily="49" charset="0"/>
              <a:buChar char="o"/>
              <a:tabLst>
                <a:tab pos="457200" algn="l"/>
              </a:tabLst>
            </a:pPr>
            <a:r>
              <a:rPr lang="en-AU" sz="1800" dirty="0">
                <a:latin typeface="Calibri" panose="020F0502020204030204" pitchFamily="34" charset="0"/>
                <a:cs typeface="Calibri" panose="020F0502020204030204" pitchFamily="34" charset="0"/>
              </a:rPr>
              <a:t>Start by identifying who the target market is and include data to support the size of this market. </a:t>
            </a:r>
          </a:p>
        </p:txBody>
      </p:sp>
      <p:pic>
        <p:nvPicPr>
          <p:cNvPr id="5" name="Graphic 4" descr="Upward trend with solid fill">
            <a:extLst>
              <a:ext uri="{FF2B5EF4-FFF2-40B4-BE49-F238E27FC236}">
                <a16:creationId xmlns:a16="http://schemas.microsoft.com/office/drawing/2014/main" id="{F711AA4B-40CE-8738-81C0-13FAD0F484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3265" y="1031001"/>
            <a:ext cx="4253090" cy="4253090"/>
          </a:xfrm>
          <a:prstGeom prst="rect">
            <a:avLst/>
          </a:prstGeom>
        </p:spPr>
      </p:pic>
    </p:spTree>
    <p:extLst>
      <p:ext uri="{BB962C8B-B14F-4D97-AF65-F5344CB8AC3E}">
        <p14:creationId xmlns:p14="http://schemas.microsoft.com/office/powerpoint/2010/main" val="3373003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74E4-7C9B-FF41-A99F-C4E3A757FC29}"/>
              </a:ext>
            </a:extLst>
          </p:cNvPr>
          <p:cNvSpPr>
            <a:spLocks noGrp="1"/>
          </p:cNvSpPr>
          <p:nvPr>
            <p:ph type="title"/>
          </p:nvPr>
        </p:nvSpPr>
        <p:spPr/>
        <p:txBody>
          <a:bodyPr>
            <a:normAutofit/>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4) The Solution</a:t>
            </a:r>
            <a:endParaRPr lang="en-US" dirty="0"/>
          </a:p>
        </p:txBody>
      </p:sp>
      <p:sp>
        <p:nvSpPr>
          <p:cNvPr id="3" name="Content Placeholder 2">
            <a:extLst>
              <a:ext uri="{FF2B5EF4-FFF2-40B4-BE49-F238E27FC236}">
                <a16:creationId xmlns:a16="http://schemas.microsoft.com/office/drawing/2014/main" id="{DF38F2F0-542F-3F89-BD3F-1CA0938CDDEE}"/>
              </a:ext>
            </a:extLst>
          </p:cNvPr>
          <p:cNvSpPr>
            <a:spLocks noGrp="1"/>
          </p:cNvSpPr>
          <p:nvPr>
            <p:ph idx="1"/>
          </p:nvPr>
        </p:nvSpPr>
        <p:spPr>
          <a:xfrm>
            <a:off x="914399" y="1860703"/>
            <a:ext cx="6433458" cy="4081127"/>
          </a:xfrm>
        </p:spPr>
        <p:txBody>
          <a:bodyPr>
            <a:normAutofit/>
          </a:bodyPr>
          <a:lstStyle/>
          <a:p>
            <a:pPr lvl="0">
              <a:lnSpc>
                <a:spcPct val="110000"/>
              </a:lnSpc>
            </a:pPr>
            <a:r>
              <a:rPr lang="en-AU" sz="1800" dirty="0">
                <a:latin typeface="Calibri" panose="020F0502020204030204" pitchFamily="34" charset="0"/>
                <a:cs typeface="Calibri" panose="020F0502020204030204" pitchFamily="34" charset="0"/>
              </a:rPr>
              <a:t>This section should clearly outline, define and describe the product of service that you are suggesting as the solution to your problem statement. </a:t>
            </a:r>
            <a:endParaRPr lang="en-US" sz="1800" dirty="0">
              <a:latin typeface="Calibri" panose="020F0502020204030204" pitchFamily="34" charset="0"/>
              <a:cs typeface="Calibri" panose="020F0502020204030204" pitchFamily="34" charset="0"/>
            </a:endParaRPr>
          </a:p>
          <a:p>
            <a:pPr lvl="0">
              <a:lnSpc>
                <a:spcPct val="110000"/>
              </a:lnSpc>
            </a:pPr>
            <a:r>
              <a:rPr lang="en-AU" sz="1800" dirty="0">
                <a:latin typeface="Calibri" panose="020F0502020204030204" pitchFamily="34" charset="0"/>
                <a:cs typeface="Calibri" panose="020F0502020204030204" pitchFamily="34" charset="0"/>
              </a:rPr>
              <a:t>Within this section you should talk about how your customers would be expected to use your product and how it addresses the problem that you have outlined.  </a:t>
            </a:r>
            <a:endParaRPr lang="en-US" sz="1800" dirty="0">
              <a:latin typeface="Calibri" panose="020F0502020204030204" pitchFamily="34" charset="0"/>
              <a:cs typeface="Calibri" panose="020F0502020204030204" pitchFamily="34" charset="0"/>
            </a:endParaRPr>
          </a:p>
        </p:txBody>
      </p:sp>
      <p:pic>
        <p:nvPicPr>
          <p:cNvPr id="5" name="Graphic 4" descr="Decision chart outline">
            <a:extLst>
              <a:ext uri="{FF2B5EF4-FFF2-40B4-BE49-F238E27FC236}">
                <a16:creationId xmlns:a16="http://schemas.microsoft.com/office/drawing/2014/main" id="{2B23C444-B78E-0DBB-3ECB-E114E49848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55971" y="916170"/>
            <a:ext cx="4735286" cy="4735286"/>
          </a:xfrm>
          <a:prstGeom prst="rect">
            <a:avLst/>
          </a:prstGeom>
        </p:spPr>
      </p:pic>
    </p:spTree>
    <p:extLst>
      <p:ext uri="{BB962C8B-B14F-4D97-AF65-F5344CB8AC3E}">
        <p14:creationId xmlns:p14="http://schemas.microsoft.com/office/powerpoint/2010/main" val="3364357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11996-9288-4648-DFAB-27B071327EC5}"/>
              </a:ext>
            </a:extLst>
          </p:cNvPr>
          <p:cNvSpPr>
            <a:spLocks noGrp="1"/>
          </p:cNvSpPr>
          <p:nvPr>
            <p:ph type="title"/>
          </p:nvPr>
        </p:nvSpPr>
        <p:spPr/>
        <p:txBody>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5) The Competition </a:t>
            </a:r>
            <a:endParaRPr lang="en-US" dirty="0"/>
          </a:p>
        </p:txBody>
      </p:sp>
      <p:graphicFrame>
        <p:nvGraphicFramePr>
          <p:cNvPr id="3" name="Table 2">
            <a:extLst>
              <a:ext uri="{FF2B5EF4-FFF2-40B4-BE49-F238E27FC236}">
                <a16:creationId xmlns:a16="http://schemas.microsoft.com/office/drawing/2014/main" id="{F8B0C086-3AED-83CD-DC59-CF9AFECA8030}"/>
              </a:ext>
            </a:extLst>
          </p:cNvPr>
          <p:cNvGraphicFramePr>
            <a:graphicFrameLocks noGrp="1"/>
          </p:cNvGraphicFramePr>
          <p:nvPr>
            <p:extLst>
              <p:ext uri="{D42A27DB-BD31-4B8C-83A1-F6EECF244321}">
                <p14:modId xmlns:p14="http://schemas.microsoft.com/office/powerpoint/2010/main" val="3868937261"/>
              </p:ext>
            </p:extLst>
          </p:nvPr>
        </p:nvGraphicFramePr>
        <p:xfrm>
          <a:off x="1061357" y="2852958"/>
          <a:ext cx="9976757" cy="3939730"/>
        </p:xfrm>
        <a:graphic>
          <a:graphicData uri="http://schemas.openxmlformats.org/drawingml/2006/table">
            <a:tbl>
              <a:tblPr firstRow="1" firstCol="1" bandRow="1">
                <a:tableStyleId>{5C22544A-7EE6-4342-B048-85BDC9FD1C3A}</a:tableStyleId>
              </a:tblPr>
              <a:tblGrid>
                <a:gridCol w="3325217">
                  <a:extLst>
                    <a:ext uri="{9D8B030D-6E8A-4147-A177-3AD203B41FA5}">
                      <a16:colId xmlns:a16="http://schemas.microsoft.com/office/drawing/2014/main" val="2876733798"/>
                    </a:ext>
                  </a:extLst>
                </a:gridCol>
                <a:gridCol w="3325217">
                  <a:extLst>
                    <a:ext uri="{9D8B030D-6E8A-4147-A177-3AD203B41FA5}">
                      <a16:colId xmlns:a16="http://schemas.microsoft.com/office/drawing/2014/main" val="161130448"/>
                    </a:ext>
                  </a:extLst>
                </a:gridCol>
                <a:gridCol w="3326323">
                  <a:extLst>
                    <a:ext uri="{9D8B030D-6E8A-4147-A177-3AD203B41FA5}">
                      <a16:colId xmlns:a16="http://schemas.microsoft.com/office/drawing/2014/main" val="4094184054"/>
                    </a:ext>
                  </a:extLst>
                </a:gridCol>
              </a:tblGrid>
              <a:tr h="787946">
                <a:tc>
                  <a:txBody>
                    <a:bodyPr/>
                    <a:lstStyle/>
                    <a:p>
                      <a:pPr algn="ctr"/>
                      <a:r>
                        <a:rPr lang="en-AU" sz="2200" b="1" dirty="0">
                          <a:solidFill>
                            <a:schemeClr val="tx1"/>
                          </a:solidFill>
                          <a:effectLst/>
                          <a:latin typeface="Calibri" panose="020F0502020204030204" pitchFamily="34" charset="0"/>
                          <a:cs typeface="Calibri" panose="020F0502020204030204" pitchFamily="34" charset="0"/>
                        </a:rPr>
                        <a:t>Solution/Company</a:t>
                      </a:r>
                      <a:endParaRPr lang="en-AU" sz="22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A7A0"/>
                    </a:solidFill>
                  </a:tcPr>
                </a:tc>
                <a:tc>
                  <a:txBody>
                    <a:bodyPr/>
                    <a:lstStyle/>
                    <a:p>
                      <a:pPr algn="ctr"/>
                      <a:r>
                        <a:rPr lang="en-AU" sz="2200" b="1" dirty="0">
                          <a:solidFill>
                            <a:schemeClr val="tx1"/>
                          </a:solidFill>
                          <a:effectLst/>
                          <a:latin typeface="Calibri" panose="020F0502020204030204" pitchFamily="34" charset="0"/>
                          <a:cs typeface="Calibri" panose="020F0502020204030204" pitchFamily="34" charset="0"/>
                        </a:rPr>
                        <a:t>What features their solution offers?</a:t>
                      </a:r>
                      <a:endParaRPr lang="en-AU" sz="22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8A7A0"/>
                    </a:solidFill>
                  </a:tcPr>
                </a:tc>
                <a:tc>
                  <a:txBody>
                    <a:bodyPr/>
                    <a:lstStyle/>
                    <a:p>
                      <a:pPr algn="ctr"/>
                      <a:r>
                        <a:rPr lang="en-AU" sz="2200" b="1" dirty="0">
                          <a:solidFill>
                            <a:schemeClr val="tx1"/>
                          </a:solidFill>
                          <a:effectLst/>
                          <a:latin typeface="Calibri" panose="020F0502020204030204" pitchFamily="34" charset="0"/>
                          <a:cs typeface="Calibri" panose="020F0502020204030204" pitchFamily="34" charset="0"/>
                        </a:rPr>
                        <a:t>Who is their target market?</a:t>
                      </a:r>
                      <a:endParaRPr lang="en-AU" sz="22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B w="12700" cap="flat" cmpd="sng" algn="ctr">
                      <a:solidFill>
                        <a:schemeClr val="tx1"/>
                      </a:solidFill>
                      <a:prstDash val="solid"/>
                      <a:round/>
                      <a:headEnd type="none" w="med" len="med"/>
                      <a:tailEnd type="none" w="med" len="med"/>
                    </a:lnB>
                    <a:solidFill>
                      <a:srgbClr val="F8A7A0"/>
                    </a:solidFill>
                  </a:tcPr>
                </a:tc>
                <a:extLst>
                  <a:ext uri="{0D108BD9-81ED-4DB2-BD59-A6C34878D82A}">
                    <a16:rowId xmlns:a16="http://schemas.microsoft.com/office/drawing/2014/main" val="635793305"/>
                  </a:ext>
                </a:extLst>
              </a:tr>
              <a:tr h="787946">
                <a:tc>
                  <a:txBody>
                    <a:bodyPr/>
                    <a:lstStyle/>
                    <a:p>
                      <a:r>
                        <a:rPr lang="en-AU" sz="1200" dirty="0">
                          <a:effectLst/>
                        </a:rPr>
                        <a:t> </a:t>
                      </a:r>
                    </a:p>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901634"/>
                  </a:ext>
                </a:extLst>
              </a:tr>
              <a:tr h="787946">
                <a:tc>
                  <a:txBody>
                    <a:bodyPr/>
                    <a:lstStyle/>
                    <a:p>
                      <a:r>
                        <a:rPr lang="en-AU" sz="1200" dirty="0">
                          <a:effectLst/>
                        </a:rPr>
                        <a:t> </a:t>
                      </a:r>
                    </a:p>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2510281"/>
                  </a:ext>
                </a:extLst>
              </a:tr>
              <a:tr h="787946">
                <a:tc>
                  <a:txBody>
                    <a:bodyPr/>
                    <a:lstStyle/>
                    <a:p>
                      <a:r>
                        <a:rPr lang="en-AU" sz="1200">
                          <a:effectLst/>
                        </a:rPr>
                        <a:t> </a:t>
                      </a:r>
                    </a:p>
                    <a:p>
                      <a:r>
                        <a:rPr lang="en-AU" sz="1200">
                          <a:effectLst/>
                        </a:rPr>
                        <a:t> </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a:effectLst/>
                        </a:rPr>
                        <a:t> </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0376959"/>
                  </a:ext>
                </a:extLst>
              </a:tr>
              <a:tr h="787946">
                <a:tc>
                  <a:txBody>
                    <a:bodyPr/>
                    <a:lstStyle/>
                    <a:p>
                      <a:r>
                        <a:rPr lang="en-AU" sz="1200">
                          <a:effectLst/>
                        </a:rPr>
                        <a:t> </a:t>
                      </a:r>
                    </a:p>
                    <a:p>
                      <a:r>
                        <a:rPr lang="en-AU" sz="1200">
                          <a:effectLst/>
                        </a:rPr>
                        <a:t> </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a:effectLst/>
                        </a:rPr>
                        <a:t> </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200" dirty="0">
                          <a:effectLst/>
                        </a:rPr>
                        <a:t> </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0341409"/>
                  </a:ext>
                </a:extLst>
              </a:tr>
            </a:tbl>
          </a:graphicData>
        </a:graphic>
      </p:graphicFrame>
      <p:sp>
        <p:nvSpPr>
          <p:cNvPr id="7" name="Content Placeholder 6">
            <a:extLst>
              <a:ext uri="{FF2B5EF4-FFF2-40B4-BE49-F238E27FC236}">
                <a16:creationId xmlns:a16="http://schemas.microsoft.com/office/drawing/2014/main" id="{FD661821-4828-DC01-1C60-0EA44F18DD38}"/>
              </a:ext>
            </a:extLst>
          </p:cNvPr>
          <p:cNvSpPr>
            <a:spLocks noGrp="1"/>
          </p:cNvSpPr>
          <p:nvPr>
            <p:ph idx="1"/>
          </p:nvPr>
        </p:nvSpPr>
        <p:spPr>
          <a:xfrm>
            <a:off x="914400" y="1785709"/>
            <a:ext cx="10363200" cy="1148265"/>
          </a:xfrm>
        </p:spPr>
        <p:txBody>
          <a:bodyPr/>
          <a:lstStyle/>
          <a:p>
            <a:r>
              <a:rPr lang="en-AU" dirty="0">
                <a:latin typeface="Calibri" panose="020F0502020204030204" pitchFamily="34" charset="0"/>
                <a:cs typeface="Calibri" panose="020F0502020204030204" pitchFamily="34" charset="0"/>
              </a:rPr>
              <a:t>This section should outline the competition you have found, what features they have within their solution and their target market. You must include at least 4 potential competitions. </a:t>
            </a:r>
            <a:endParaRPr lang="en-US"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709006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11996-9288-4648-DFAB-27B071327EC5}"/>
              </a:ext>
            </a:extLst>
          </p:cNvPr>
          <p:cNvSpPr>
            <a:spLocks noGrp="1"/>
          </p:cNvSpPr>
          <p:nvPr>
            <p:ph type="title"/>
          </p:nvPr>
        </p:nvSpPr>
        <p:spPr>
          <a:xfrm>
            <a:off x="914399" y="439387"/>
            <a:ext cx="6923314" cy="1314443"/>
          </a:xfrm>
        </p:spPr>
        <p:txBody>
          <a:bodyPr/>
          <a:lstStyle/>
          <a:p>
            <a:r>
              <a:rPr lang="en-AU" b="1" dirty="0">
                <a:latin typeface="Calibri" panose="020F0502020204030204" pitchFamily="34" charset="0"/>
                <a:ea typeface="Times New Roman" panose="02020603050405020304" pitchFamily="18" charset="0"/>
                <a:cs typeface="Calibri" panose="020F0502020204030204" pitchFamily="34" charset="0"/>
              </a:rPr>
              <a:t>6</a:t>
            </a:r>
            <a:r>
              <a:rPr lang="en-AU" b="1" dirty="0">
                <a:effectLst/>
                <a:latin typeface="Calibri" panose="020F0502020204030204" pitchFamily="34" charset="0"/>
                <a:ea typeface="Times New Roman" panose="02020603050405020304" pitchFamily="18" charset="0"/>
                <a:cs typeface="Calibri" panose="020F0502020204030204" pitchFamily="34" charset="0"/>
              </a:rPr>
              <a:t>) The Competition </a:t>
            </a:r>
            <a:endParaRPr lang="en-US" dirty="0"/>
          </a:p>
        </p:txBody>
      </p:sp>
      <p:sp>
        <p:nvSpPr>
          <p:cNvPr id="8" name="Content Placeholder 7">
            <a:extLst>
              <a:ext uri="{FF2B5EF4-FFF2-40B4-BE49-F238E27FC236}">
                <a16:creationId xmlns:a16="http://schemas.microsoft.com/office/drawing/2014/main" id="{33513CE4-A311-21BB-581E-1ABAF9A15781}"/>
              </a:ext>
            </a:extLst>
          </p:cNvPr>
          <p:cNvSpPr>
            <a:spLocks noGrp="1"/>
          </p:cNvSpPr>
          <p:nvPr>
            <p:ph idx="1"/>
          </p:nvPr>
        </p:nvSpPr>
        <p:spPr>
          <a:xfrm>
            <a:off x="914399" y="2024743"/>
            <a:ext cx="5992587" cy="3917086"/>
          </a:xfrm>
        </p:spPr>
        <p:txBody>
          <a:bodyPr>
            <a:normAutofit/>
          </a:bodyPr>
          <a:lstStyle/>
          <a:p>
            <a:pPr lvl="0">
              <a:lnSpc>
                <a:spcPct val="100000"/>
              </a:lnSpc>
            </a:pPr>
            <a:r>
              <a:rPr lang="en-AU" dirty="0">
                <a:latin typeface="Calibri" panose="020F0502020204030204" pitchFamily="34" charset="0"/>
                <a:cs typeface="Calibri" panose="020F0502020204030204" pitchFamily="34" charset="0"/>
              </a:rPr>
              <a:t>This section should outline how your solution will fit into the current market or with the current competition. </a:t>
            </a:r>
          </a:p>
          <a:p>
            <a:pPr lvl="0">
              <a:lnSpc>
                <a:spcPct val="100000"/>
              </a:lnSpc>
            </a:pPr>
            <a:r>
              <a:rPr lang="en-AU" dirty="0">
                <a:latin typeface="Calibri" panose="020F0502020204030204" pitchFamily="34" charset="0"/>
                <a:cs typeface="Calibri" panose="020F0502020204030204" pitchFamily="34" charset="0"/>
              </a:rPr>
              <a:t>Within this section you will need to clearly outline how your solution is different/better than the current competition and why customers would move to your solution.  </a:t>
            </a:r>
          </a:p>
          <a:p>
            <a:r>
              <a:rPr lang="en-AU" dirty="0">
                <a:latin typeface="Calibri" panose="020F0502020204030204" pitchFamily="34" charset="0"/>
                <a:cs typeface="Calibri" panose="020F0502020204030204" pitchFamily="34" charset="0"/>
              </a:rPr>
              <a:t>This section can also be where you can include information about what customers would be happy to pay for your product based on current solutions. </a:t>
            </a:r>
            <a:endParaRPr lang="en-US" dirty="0">
              <a:latin typeface="Calibri" panose="020F0502020204030204" pitchFamily="34" charset="0"/>
              <a:cs typeface="Calibri" panose="020F0502020204030204" pitchFamily="34" charset="0"/>
            </a:endParaRPr>
          </a:p>
          <a:p>
            <a:pPr lvl="0">
              <a:lnSpc>
                <a:spcPct val="100000"/>
              </a:lnSpc>
            </a:pPr>
            <a:endParaRPr lang="en-US" dirty="0">
              <a:latin typeface="Calibri" panose="020F0502020204030204" pitchFamily="34" charset="0"/>
              <a:cs typeface="Calibri" panose="020F0502020204030204" pitchFamily="34" charset="0"/>
            </a:endParaRPr>
          </a:p>
          <a:p>
            <a:endParaRPr lang="en-US" dirty="0"/>
          </a:p>
        </p:txBody>
      </p:sp>
      <p:pic>
        <p:nvPicPr>
          <p:cNvPr id="10" name="Graphic 9" descr="List outline">
            <a:extLst>
              <a:ext uri="{FF2B5EF4-FFF2-40B4-BE49-F238E27FC236}">
                <a16:creationId xmlns:a16="http://schemas.microsoft.com/office/drawing/2014/main" id="{90A58824-86E8-13FD-E210-16280AD303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01344" y="1371599"/>
            <a:ext cx="5112327" cy="5112327"/>
          </a:xfrm>
          <a:prstGeom prst="rect">
            <a:avLst/>
          </a:prstGeom>
        </p:spPr>
      </p:pic>
    </p:spTree>
    <p:extLst>
      <p:ext uri="{BB962C8B-B14F-4D97-AF65-F5344CB8AC3E}">
        <p14:creationId xmlns:p14="http://schemas.microsoft.com/office/powerpoint/2010/main" val="538371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74E4-7C9B-FF41-A99F-C4E3A757FC29}"/>
              </a:ext>
            </a:extLst>
          </p:cNvPr>
          <p:cNvSpPr>
            <a:spLocks noGrp="1"/>
          </p:cNvSpPr>
          <p:nvPr>
            <p:ph type="title"/>
          </p:nvPr>
        </p:nvSpPr>
        <p:spPr>
          <a:xfrm>
            <a:off x="914400" y="687572"/>
            <a:ext cx="4079987" cy="1078497"/>
          </a:xfrm>
        </p:spPr>
        <p:txBody>
          <a:bodyPr>
            <a:normAutofit/>
          </a:bodyPr>
          <a:lstStyle/>
          <a:p>
            <a:r>
              <a:rPr lang="en-AU" b="1" dirty="0">
                <a:effectLst/>
                <a:latin typeface="Calibri" panose="020F0502020204030204" pitchFamily="34" charset="0"/>
                <a:ea typeface="Times New Roman" panose="02020603050405020304" pitchFamily="18" charset="0"/>
                <a:cs typeface="Calibri" panose="020F0502020204030204" pitchFamily="34" charset="0"/>
              </a:rPr>
              <a:t>7) References </a:t>
            </a:r>
            <a:endParaRPr lang="en-US" dirty="0"/>
          </a:p>
        </p:txBody>
      </p:sp>
      <p:sp>
        <p:nvSpPr>
          <p:cNvPr id="3" name="Content Placeholder 2">
            <a:extLst>
              <a:ext uri="{FF2B5EF4-FFF2-40B4-BE49-F238E27FC236}">
                <a16:creationId xmlns:a16="http://schemas.microsoft.com/office/drawing/2014/main" id="{DF38F2F0-542F-3F89-BD3F-1CA0938CDDEE}"/>
              </a:ext>
            </a:extLst>
          </p:cNvPr>
          <p:cNvSpPr>
            <a:spLocks noGrp="1"/>
          </p:cNvSpPr>
          <p:nvPr>
            <p:ph idx="1"/>
          </p:nvPr>
        </p:nvSpPr>
        <p:spPr>
          <a:xfrm>
            <a:off x="5608320" y="2232368"/>
            <a:ext cx="5450774" cy="3471761"/>
          </a:xfrm>
        </p:spPr>
        <p:txBody>
          <a:bodyPr>
            <a:normAutofit/>
          </a:bodyPr>
          <a:lstStyle/>
          <a:p>
            <a:pPr marL="342900" lvl="0" indent="-342900">
              <a:lnSpc>
                <a:spcPct val="107000"/>
              </a:lnSpc>
              <a:spcAft>
                <a:spcPts val="800"/>
              </a:spcAft>
              <a:buSzPts val="1000"/>
              <a:buFont typeface="Courier New" panose="02070309020205020404" pitchFamily="49" charset="0"/>
              <a:buChar char="o"/>
              <a:tabLst>
                <a:tab pos="457200" algn="l"/>
              </a:tabLs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This section you should include all your reference for the content that you have included within your Slide Deck. </a:t>
            </a:r>
            <a:endPar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Courier New" panose="02070309020205020404" pitchFamily="49" charset="0"/>
              <a:buChar char="o"/>
              <a:tabLst>
                <a:tab pos="457200" algn="l"/>
              </a:tabLs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Remember you should also include reference for the sites that you have visited that have inspired your thoughts and ideas for your topic. </a:t>
            </a:r>
            <a:endPar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Courier New" panose="02070309020205020404" pitchFamily="49" charset="0"/>
              <a:buChar char="o"/>
              <a:tabLst>
                <a:tab pos="457200" algn="l"/>
              </a:tabLst>
            </a:pPr>
            <a:r>
              <a:rPr lang="en-AU" sz="1800" dirty="0">
                <a:solidFill>
                  <a:srgbClr val="000000"/>
                </a:solidFill>
                <a:latin typeface="Calibri" panose="020F0502020204030204" pitchFamily="34" charset="0"/>
                <a:ea typeface="Times New Roman" panose="02020603050405020304" pitchFamily="18" charset="0"/>
                <a:cs typeface="Calibri" panose="020F0502020204030204" pitchFamily="34" charset="0"/>
              </a:rPr>
              <a:t>All references should be provided in current Deakin Referencing style. </a:t>
            </a: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Guidelines for referencing can be found:</a:t>
            </a:r>
            <a:r>
              <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AU" sz="18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https://www.deakin.edu.au/students/study-support/study-resources/referencing</a:t>
            </a:r>
            <a:endPar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Graphic 13" descr="Open book outline">
            <a:extLst>
              <a:ext uri="{FF2B5EF4-FFF2-40B4-BE49-F238E27FC236}">
                <a16:creationId xmlns:a16="http://schemas.microsoft.com/office/drawing/2014/main" id="{1993CAB4-50C4-CB9C-08AE-75942F088A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0027" y="1299769"/>
            <a:ext cx="4404360" cy="4404360"/>
          </a:xfrm>
          <a:prstGeom prst="rect">
            <a:avLst/>
          </a:prstGeom>
        </p:spPr>
      </p:pic>
    </p:spTree>
    <p:extLst>
      <p:ext uri="{BB962C8B-B14F-4D97-AF65-F5344CB8AC3E}">
        <p14:creationId xmlns:p14="http://schemas.microsoft.com/office/powerpoint/2010/main" val="4198178182"/>
      </p:ext>
    </p:extLst>
  </p:cSld>
  <p:clrMapOvr>
    <a:masterClrMapping/>
  </p:clrMapOvr>
</p:sld>
</file>

<file path=ppt/theme/theme1.xml><?xml version="1.0" encoding="utf-8"?>
<a:theme xmlns:a="http://schemas.openxmlformats.org/drawingml/2006/main" name="Dash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42B0E7C6-1071-483F-A575-9AF7EE1B96AC}" vid="{E18014FF-B132-4F63-9D72-5B85E99D6417}"/>
    </a:ext>
  </a:extLst>
</a:theme>
</file>

<file path=docProps/app.xml><?xml version="1.0" encoding="utf-8"?>
<Properties xmlns="http://schemas.openxmlformats.org/officeDocument/2006/extended-properties" xmlns:vt="http://schemas.openxmlformats.org/officeDocument/2006/docPropsVTypes">
  <Template>{6E86EB4D-4AFF-AF4D-A232-AB32DEBDF8C4}tf16401369</Template>
  <TotalTime>2551</TotalTime>
  <Words>457</Words>
  <Application>Microsoft Macintosh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-webkit-standard</vt:lpstr>
      <vt:lpstr>Arial</vt:lpstr>
      <vt:lpstr>Calibri</vt:lpstr>
      <vt:lpstr>Courier New</vt:lpstr>
      <vt:lpstr>Grandview Display</vt:lpstr>
      <vt:lpstr>DashVTI</vt:lpstr>
      <vt:lpstr>SIT726  Insert Project Solution Title</vt:lpstr>
      <vt:lpstr>1) The Vision / Value proposition</vt:lpstr>
      <vt:lpstr>2) The Problem</vt:lpstr>
      <vt:lpstr>3) The Market </vt:lpstr>
      <vt:lpstr>4) The Solution</vt:lpstr>
      <vt:lpstr>5) The Competition </vt:lpstr>
      <vt:lpstr>6) The Competition </vt:lpstr>
      <vt:lpstr>7)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Project Solution Title</dc:title>
  <dc:creator>Elicia Lanham</dc:creator>
  <cp:lastModifiedBy>BERLINDA ASIEDU</cp:lastModifiedBy>
  <cp:revision>10</cp:revision>
  <dcterms:created xsi:type="dcterms:W3CDTF">2023-02-27T12:49:17Z</dcterms:created>
  <dcterms:modified xsi:type="dcterms:W3CDTF">2026-04-19T08:12:43Z</dcterms:modified>
</cp:coreProperties>
</file>